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1219" r:id="rId6"/>
    <p:sldId id="263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326FC-4132-3A68-7B19-1A4CE77EBFFA}" v="2" dt="2025-12-08T09:22:05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etitia TERLUTTE" userId="S::laetitia.terlutte@intervenants.efrei.net::5445999f-8dfe-4769-b112-02c98a852758" providerId="AD" clId="Web-{9ECD08E0-D196-61A4-E59E-BE67BC997739}"/>
    <pc:docChg chg="mod modSld">
      <pc:chgData name="Laetitia TERLUTTE" userId="S::laetitia.terlutte@intervenants.efrei.net::5445999f-8dfe-4769-b112-02c98a852758" providerId="AD" clId="Web-{9ECD08E0-D196-61A4-E59E-BE67BC997739}" dt="2025-12-03T18:15:18.752" v="1" actId="33475"/>
      <pc:docMkLst>
        <pc:docMk/>
      </pc:docMkLst>
      <pc:sldChg chg="modSp">
        <pc:chgData name="Laetitia TERLUTTE" userId="S::laetitia.terlutte@intervenants.efrei.net::5445999f-8dfe-4769-b112-02c98a852758" providerId="AD" clId="Web-{9ECD08E0-D196-61A4-E59E-BE67BC997739}" dt="2025-12-03T18:14:54.782" v="0" actId="20577"/>
        <pc:sldMkLst>
          <pc:docMk/>
          <pc:sldMk cId="789189910" sldId="261"/>
        </pc:sldMkLst>
        <pc:spChg chg="mod">
          <ac:chgData name="Laetitia TERLUTTE" userId="S::laetitia.terlutte@intervenants.efrei.net::5445999f-8dfe-4769-b112-02c98a852758" providerId="AD" clId="Web-{9ECD08E0-D196-61A4-E59E-BE67BC997739}" dt="2025-12-03T18:14:54.782" v="0" actId="20577"/>
          <ac:spMkLst>
            <pc:docMk/>
            <pc:sldMk cId="789189910" sldId="261"/>
            <ac:spMk id="7" creationId="{50E5ACB0-E359-7847-082B-568A1358D96D}"/>
          </ac:spMkLst>
        </pc:spChg>
      </pc:sldChg>
    </pc:docChg>
  </pc:docChgLst>
  <pc:docChgLst>
    <pc:chgData name="Laetitia TERLUTTE" userId="S::laetitia.terlutte@intervenants.efrei.net::5445999f-8dfe-4769-b112-02c98a852758" providerId="AD" clId="Web-{F9D326FC-4132-3A68-7B19-1A4CE77EBFFA}"/>
    <pc:docChg chg="modSld">
      <pc:chgData name="Laetitia TERLUTTE" userId="S::laetitia.terlutte@intervenants.efrei.net::5445999f-8dfe-4769-b112-02c98a852758" providerId="AD" clId="Web-{F9D326FC-4132-3A68-7B19-1A4CE77EBFFA}" dt="2025-12-08T09:22:01.173" v="0" actId="20577"/>
      <pc:docMkLst>
        <pc:docMk/>
      </pc:docMkLst>
      <pc:sldChg chg="modSp">
        <pc:chgData name="Laetitia TERLUTTE" userId="S::laetitia.terlutte@intervenants.efrei.net::5445999f-8dfe-4769-b112-02c98a852758" providerId="AD" clId="Web-{F9D326FC-4132-3A68-7B19-1A4CE77EBFFA}" dt="2025-12-08T09:22:01.173" v="0" actId="20577"/>
        <pc:sldMkLst>
          <pc:docMk/>
          <pc:sldMk cId="789189910" sldId="261"/>
        </pc:sldMkLst>
        <pc:spChg chg="mod">
          <ac:chgData name="Laetitia TERLUTTE" userId="S::laetitia.terlutte@intervenants.efrei.net::5445999f-8dfe-4769-b112-02c98a852758" providerId="AD" clId="Web-{F9D326FC-4132-3A68-7B19-1A4CE77EBFFA}" dt="2025-12-08T09:22:01.173" v="0" actId="20577"/>
          <ac:spMkLst>
            <pc:docMk/>
            <pc:sldMk cId="789189910" sldId="261"/>
            <ac:spMk id="7" creationId="{50E5ACB0-E359-7847-082B-568A1358D96D}"/>
          </ac:spMkLst>
        </pc:spChg>
      </pc:sldChg>
    </pc:docChg>
  </pc:docChgLst>
  <pc:docChgLst>
    <pc:chgData name="Laetitia TERLUTTE" userId="S::laetitia.terlutte@intervenants.efrei.net::5445999f-8dfe-4769-b112-02c98a852758" providerId="AD" clId="Web-{C87FF2DF-EB93-40F8-0C4B-D281ADB6F79A}"/>
    <pc:docChg chg="modSld">
      <pc:chgData name="Laetitia TERLUTTE" userId="S::laetitia.terlutte@intervenants.efrei.net::5445999f-8dfe-4769-b112-02c98a852758" providerId="AD" clId="Web-{C87FF2DF-EB93-40F8-0C4B-D281ADB6F79A}" dt="2025-12-05T12:45:24.427" v="4" actId="20577"/>
      <pc:docMkLst>
        <pc:docMk/>
      </pc:docMkLst>
      <pc:sldChg chg="modSp">
        <pc:chgData name="Laetitia TERLUTTE" userId="S::laetitia.terlutte@intervenants.efrei.net::5445999f-8dfe-4769-b112-02c98a852758" providerId="AD" clId="Web-{C87FF2DF-EB93-40F8-0C4B-D281ADB6F79A}" dt="2025-12-05T12:45:24.427" v="4" actId="20577"/>
        <pc:sldMkLst>
          <pc:docMk/>
          <pc:sldMk cId="2496957431" sldId="264"/>
        </pc:sldMkLst>
        <pc:spChg chg="mod">
          <ac:chgData name="Laetitia TERLUTTE" userId="S::laetitia.terlutte@intervenants.efrei.net::5445999f-8dfe-4769-b112-02c98a852758" providerId="AD" clId="Web-{C87FF2DF-EB93-40F8-0C4B-D281ADB6F79A}" dt="2025-12-05T12:45:24.427" v="4" actId="20577"/>
          <ac:spMkLst>
            <pc:docMk/>
            <pc:sldMk cId="2496957431" sldId="264"/>
            <ac:spMk id="6" creationId="{47A665E8-C7E5-FC42-BFC5-D260877C67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2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13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7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1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54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673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50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47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52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51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18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CFAE2-3935-4AB6-8173-689607390C9A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895E5-4789-4506-B42A-F987DE34A63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47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bleau.com/fr-fr/academic/students" TargetMode="External"/><Relationship Id="rId2" Type="http://schemas.openxmlformats.org/officeDocument/2006/relationships/hyperlink" Target="https://www.tableau.com/fr-fr/products/desktop/downloa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40784" TargetMode="External"/><Relationship Id="rId2" Type="http://schemas.openxmlformats.org/officeDocument/2006/relationships/hyperlink" Target="https://dev.mysql.com/downloads/connector/odbc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.mysql.com/downloads/connector/odbc/" TargetMode="External"/><Relationship Id="rId4" Type="http://schemas.openxmlformats.org/officeDocument/2006/relationships/hyperlink" Target="http://www.iodbc.org/dataspace/doc/iodbc/wiki/iodbcWiki/Download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12570"/>
            <a:ext cx="10515600" cy="905377"/>
          </a:xfrm>
        </p:spPr>
        <p:txBody>
          <a:bodyPr/>
          <a:lstStyle/>
          <a:p>
            <a:r>
              <a:rPr lang="fr-FR"/>
              <a:t>Tableau : licences et 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2843" y="1215961"/>
            <a:ext cx="10740957" cy="419262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/>
              <a:t>Téléchargez et installez </a:t>
            </a:r>
            <a:r>
              <a:rPr lang="fr-FR" b="1"/>
              <a:t>Tableau Desktop </a:t>
            </a:r>
            <a:r>
              <a:rPr lang="fr-FR"/>
              <a:t>depuis l’adresse </a:t>
            </a:r>
            <a:r>
              <a:rPr lang="fr-FR">
                <a:hlinkClick r:id="rId2"/>
              </a:rPr>
              <a:t>https://www.tableau.com/fr-fr/products/desktop/download</a:t>
            </a:r>
            <a:r>
              <a:rPr lang="fr-FR"/>
              <a:t>, puis lancez le logiciel.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/>
              <a:t>Votre clef de licence pour Tableau Desktop est </a:t>
            </a:r>
            <a:r>
              <a:rPr lang="fr-FR" b="1">
                <a:solidFill>
                  <a:schemeClr val="accent6">
                    <a:lumMod val="75000"/>
                  </a:schemeClr>
                </a:solidFill>
              </a:rPr>
              <a:t>TCVB-D82A-53C0-D756-A9BD</a:t>
            </a:r>
            <a:r>
              <a:rPr lang="fr-FR"/>
              <a:t>. Vous pouvez vous en servir pour activer le logiciel.</a:t>
            </a:r>
            <a:endParaRPr lang="fr-FR" b="1">
              <a:solidFill>
                <a:srgbClr val="0066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/>
              <a:t>Si vous avez activé la période d'évaluation, il suffit</a:t>
            </a:r>
            <a:br>
              <a:rPr lang="fr-FR"/>
            </a:br>
            <a:r>
              <a:rPr lang="fr-FR"/>
              <a:t>d'aller dans </a:t>
            </a:r>
            <a:r>
              <a:rPr lang="fr-FR" b="1"/>
              <a:t>Aide &gt; Gérer les clés produit </a:t>
            </a:r>
            <a:r>
              <a:rPr lang="fr-FR"/>
              <a:t>pour ajouter</a:t>
            </a:r>
            <a:br>
              <a:rPr lang="fr-FR"/>
            </a:br>
            <a:r>
              <a:rPr lang="fr-FR"/>
              <a:t>votre clef de licence.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/>
              <a:t>Cette clef est valable trois mois. Si vous souhaitez</a:t>
            </a:r>
            <a:br>
              <a:rPr lang="fr-FR"/>
            </a:br>
            <a:r>
              <a:rPr lang="fr-FR"/>
              <a:t>continuer à utiliser Tableau ensuite, rendez-vous sur</a:t>
            </a:r>
            <a:br>
              <a:rPr lang="fr-FR"/>
            </a:br>
            <a:r>
              <a:rPr lang="fr-FR">
                <a:hlinkClick r:id="rId3"/>
              </a:rPr>
              <a:t>https://www.tableau.com/fr-fr/academic/students</a:t>
            </a:r>
            <a:r>
              <a:rPr lang="fr-FR"/>
              <a:t>. </a:t>
            </a:r>
            <a:br>
              <a:rPr lang="fr-FR"/>
            </a:br>
            <a:r>
              <a:rPr lang="fr-FR"/>
              <a:t>Vous pourrez obtenir une clef gratuite valable un an, renouvelable tant que vous gardez un statut d'étudiant.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674E0-0DEE-9D20-D0F2-EBBD7D300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461" y="2360717"/>
            <a:ext cx="3947502" cy="2370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E5ACB0-E359-7847-082B-568A1358D96D}"/>
              </a:ext>
            </a:extLst>
          </p:cNvPr>
          <p:cNvSpPr txBox="1"/>
          <p:nvPr/>
        </p:nvSpPr>
        <p:spPr>
          <a:xfrm>
            <a:off x="612843" y="5700409"/>
            <a:ext cx="10740957" cy="961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fr-FR"/>
              <a:t>Pour </a:t>
            </a:r>
            <a:r>
              <a:rPr lang="fr-FR" b="1"/>
              <a:t>Tableau Cloud</a:t>
            </a:r>
            <a:r>
              <a:rPr lang="fr-FR"/>
              <a:t>, vous avez reçu le 02/11 une invitation de Tableau Cloud sur votre adresse email EFREI. À partir de ce message, activez votre compte en créant un </a:t>
            </a:r>
            <a:r>
              <a:rPr lang="fr-FR" b="1"/>
              <a:t>mot de passe</a:t>
            </a:r>
            <a:r>
              <a:rPr lang="fr-F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918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56728-9F5D-8118-C498-9D884AEF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Connexion à une base de données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303B0A-CB09-0350-C8A2-6DF3B8B3D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13"/>
            <a:ext cx="3503962" cy="1455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/>
              <a:t>Vous avez deux solutions pour connecter Tableau Desktop à une base de données 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0EC6E2-96A8-0F27-0A41-7ED759E52CB5}"/>
              </a:ext>
            </a:extLst>
          </p:cNvPr>
          <p:cNvGrpSpPr/>
          <p:nvPr/>
        </p:nvGrpSpPr>
        <p:grpSpPr>
          <a:xfrm>
            <a:off x="5309024" y="4512210"/>
            <a:ext cx="1264935" cy="1222625"/>
            <a:chOff x="4602818" y="3534310"/>
            <a:chExt cx="1264935" cy="12226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FB09D2-32DE-89F1-D70E-27BAB2A93708}"/>
                </a:ext>
              </a:extLst>
            </p:cNvPr>
            <p:cNvSpPr/>
            <p:nvPr/>
          </p:nvSpPr>
          <p:spPr>
            <a:xfrm>
              <a:off x="4787753" y="3534310"/>
              <a:ext cx="1080000" cy="791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Parallélogramme 4">
              <a:extLst>
                <a:ext uri="{FF2B5EF4-FFF2-40B4-BE49-F238E27FC236}">
                  <a16:creationId xmlns:a16="http://schemas.microsoft.com/office/drawing/2014/main" id="{58000D71-9786-2BDF-DECD-29E482EB0A0D}"/>
                </a:ext>
              </a:extLst>
            </p:cNvPr>
            <p:cNvSpPr/>
            <p:nvPr/>
          </p:nvSpPr>
          <p:spPr>
            <a:xfrm>
              <a:off x="4602818" y="4319848"/>
              <a:ext cx="1260000" cy="437087"/>
            </a:xfrm>
            <a:prstGeom prst="parallelogram">
              <a:avLst>
                <a:gd name="adj" fmla="val 4380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" name="Image 6">
              <a:extLst>
                <a:ext uri="{FF2B5EF4-FFF2-40B4-BE49-F238E27FC236}">
                  <a16:creationId xmlns:a16="http://schemas.microsoft.com/office/drawing/2014/main" id="{26502CFA-AB2C-FE66-DFCA-65B3C3B4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77097" y="3622008"/>
              <a:ext cx="701312" cy="69784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BFA6B0-E73E-0DF6-3DB2-41220FF07EE8}"/>
              </a:ext>
            </a:extLst>
          </p:cNvPr>
          <p:cNvGrpSpPr/>
          <p:nvPr/>
        </p:nvGrpSpPr>
        <p:grpSpPr>
          <a:xfrm>
            <a:off x="8508018" y="3315864"/>
            <a:ext cx="1047750" cy="935394"/>
            <a:chOff x="7600950" y="2255482"/>
            <a:chExt cx="1047750" cy="935394"/>
          </a:xfrm>
        </p:grpSpPr>
        <p:sp>
          <p:nvSpPr>
            <p:cNvPr id="9" name="Nuage 7">
              <a:extLst>
                <a:ext uri="{FF2B5EF4-FFF2-40B4-BE49-F238E27FC236}">
                  <a16:creationId xmlns:a16="http://schemas.microsoft.com/office/drawing/2014/main" id="{8C52C0D7-30BF-4D76-A834-B56A3B1C02EA}"/>
                </a:ext>
              </a:extLst>
            </p:cNvPr>
            <p:cNvSpPr/>
            <p:nvPr/>
          </p:nvSpPr>
          <p:spPr>
            <a:xfrm>
              <a:off x="7600950" y="2255482"/>
              <a:ext cx="1047750" cy="935394"/>
            </a:xfrm>
            <a:prstGeom prst="clou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" name="Image 12">
              <a:extLst>
                <a:ext uri="{FF2B5EF4-FFF2-40B4-BE49-F238E27FC236}">
                  <a16:creationId xmlns:a16="http://schemas.microsoft.com/office/drawing/2014/main" id="{2F626970-2040-40CF-71D2-9EF4C31CA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6810" y="2389590"/>
              <a:ext cx="701312" cy="697840"/>
            </a:xfrm>
            <a:prstGeom prst="rect">
              <a:avLst/>
            </a:prstGeom>
          </p:spPr>
        </p:pic>
      </p:grpSp>
      <p:sp>
        <p:nvSpPr>
          <p:cNvPr id="11" name="Double flèche horizontale 23">
            <a:extLst>
              <a:ext uri="{FF2B5EF4-FFF2-40B4-BE49-F238E27FC236}">
                <a16:creationId xmlns:a16="http://schemas.microsoft.com/office/drawing/2014/main" id="{FBC0A081-EF69-D7C5-1A6B-8D2B74A43A84}"/>
              </a:ext>
            </a:extLst>
          </p:cNvPr>
          <p:cNvSpPr/>
          <p:nvPr/>
        </p:nvSpPr>
        <p:spPr>
          <a:xfrm rot="21325273" flipH="1">
            <a:off x="7010726" y="5237208"/>
            <a:ext cx="3494312" cy="506404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EEE0CFA-1886-8836-A0AE-70A38A4B7961}"/>
              </a:ext>
            </a:extLst>
          </p:cNvPr>
          <p:cNvSpPr/>
          <p:nvPr/>
        </p:nvSpPr>
        <p:spPr>
          <a:xfrm>
            <a:off x="10618692" y="4251258"/>
            <a:ext cx="943583" cy="1162455"/>
          </a:xfrm>
          <a:prstGeom prst="flowChartMagneticDisk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BDD</a:t>
            </a:r>
          </a:p>
        </p:txBody>
      </p:sp>
      <p:pic>
        <p:nvPicPr>
          <p:cNvPr id="1026" name="Picture 2" descr="Steering Wheel Logo - Images et vidéos libres de droits | Adobe Stock">
            <a:extLst>
              <a:ext uri="{FF2B5EF4-FFF2-40B4-BE49-F238E27FC236}">
                <a16:creationId xmlns:a16="http://schemas.microsoft.com/office/drawing/2014/main" id="{A17F3C77-C0C6-FCA2-C2AF-C0637A3F0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957" y="5354375"/>
            <a:ext cx="749775" cy="74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Double flèche horizontale 23">
            <a:extLst>
              <a:ext uri="{FF2B5EF4-FFF2-40B4-BE49-F238E27FC236}">
                <a16:creationId xmlns:a16="http://schemas.microsoft.com/office/drawing/2014/main" id="{0F672614-59B3-1503-B8BC-8E22A985D024}"/>
              </a:ext>
            </a:extLst>
          </p:cNvPr>
          <p:cNvSpPr/>
          <p:nvPr/>
        </p:nvSpPr>
        <p:spPr>
          <a:xfrm rot="1375643">
            <a:off x="9589579" y="3888201"/>
            <a:ext cx="984659" cy="506404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23">
            <a:extLst>
              <a:ext uri="{FF2B5EF4-FFF2-40B4-BE49-F238E27FC236}">
                <a16:creationId xmlns:a16="http://schemas.microsoft.com/office/drawing/2014/main" id="{2B836A87-7465-2B22-9D4C-87D6190FF5DA}"/>
              </a:ext>
            </a:extLst>
          </p:cNvPr>
          <p:cNvSpPr/>
          <p:nvPr/>
        </p:nvSpPr>
        <p:spPr>
          <a:xfrm rot="20185641">
            <a:off x="6358855" y="3820119"/>
            <a:ext cx="2141350" cy="506404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5">
            <a:extLst>
              <a:ext uri="{FF2B5EF4-FFF2-40B4-BE49-F238E27FC236}">
                <a16:creationId xmlns:a16="http://schemas.microsoft.com/office/drawing/2014/main" id="{51AF93B3-303E-6E2A-D448-C22E35057D53}"/>
              </a:ext>
            </a:extLst>
          </p:cNvPr>
          <p:cNvSpPr txBox="1"/>
          <p:nvPr/>
        </p:nvSpPr>
        <p:spPr>
          <a:xfrm>
            <a:off x="5361062" y="5734835"/>
            <a:ext cx="102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/>
              <a:t>Tableau Desktop</a:t>
            </a:r>
          </a:p>
        </p:txBody>
      </p:sp>
      <p:sp>
        <p:nvSpPr>
          <p:cNvPr id="18" name="ZoneTexte 15">
            <a:extLst>
              <a:ext uri="{FF2B5EF4-FFF2-40B4-BE49-F238E27FC236}">
                <a16:creationId xmlns:a16="http://schemas.microsoft.com/office/drawing/2014/main" id="{14701B56-06DC-323F-B843-467C91FA634F}"/>
              </a:ext>
            </a:extLst>
          </p:cNvPr>
          <p:cNvSpPr txBox="1"/>
          <p:nvPr/>
        </p:nvSpPr>
        <p:spPr>
          <a:xfrm>
            <a:off x="7564758" y="4306903"/>
            <a:ext cx="2279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/>
              <a:t>Tableau Cloud / Server</a:t>
            </a:r>
          </a:p>
        </p:txBody>
      </p:sp>
      <p:sp>
        <p:nvSpPr>
          <p:cNvPr id="19" name="ZoneTexte 15">
            <a:extLst>
              <a:ext uri="{FF2B5EF4-FFF2-40B4-BE49-F238E27FC236}">
                <a16:creationId xmlns:a16="http://schemas.microsoft.com/office/drawing/2014/main" id="{1075C118-5A4B-ADFE-57E2-2308799B4354}"/>
              </a:ext>
            </a:extLst>
          </p:cNvPr>
          <p:cNvSpPr txBox="1"/>
          <p:nvPr/>
        </p:nvSpPr>
        <p:spPr>
          <a:xfrm>
            <a:off x="6352689" y="58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>
                <a:solidFill>
                  <a:schemeClr val="accent2"/>
                </a:solidFill>
              </a:rPr>
              <a:t>Driver</a:t>
            </a:r>
          </a:p>
        </p:txBody>
      </p:sp>
      <p:sp>
        <p:nvSpPr>
          <p:cNvPr id="20" name="ZoneTexte 15">
            <a:extLst>
              <a:ext uri="{FF2B5EF4-FFF2-40B4-BE49-F238E27FC236}">
                <a16:creationId xmlns:a16="http://schemas.microsoft.com/office/drawing/2014/main" id="{2D1BE829-A4D7-CDF1-FBB4-DF91EE0D2B40}"/>
              </a:ext>
            </a:extLst>
          </p:cNvPr>
          <p:cNvSpPr txBox="1"/>
          <p:nvPr/>
        </p:nvSpPr>
        <p:spPr>
          <a:xfrm rot="21300000" flipH="1">
            <a:off x="7846281" y="5028101"/>
            <a:ext cx="169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>
                <a:solidFill>
                  <a:schemeClr val="accent2"/>
                </a:solidFill>
              </a:rPr>
              <a:t>Identifiants SQL</a:t>
            </a:r>
          </a:p>
        </p:txBody>
      </p:sp>
      <p:sp>
        <p:nvSpPr>
          <p:cNvPr id="21" name="ZoneTexte 15">
            <a:extLst>
              <a:ext uri="{FF2B5EF4-FFF2-40B4-BE49-F238E27FC236}">
                <a16:creationId xmlns:a16="http://schemas.microsoft.com/office/drawing/2014/main" id="{8FD2821A-E240-D531-9E01-6F3FCA946E47}"/>
              </a:ext>
            </a:extLst>
          </p:cNvPr>
          <p:cNvSpPr txBox="1"/>
          <p:nvPr/>
        </p:nvSpPr>
        <p:spPr>
          <a:xfrm rot="20160000">
            <a:off x="6627866" y="3281359"/>
            <a:ext cx="1295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>
                <a:solidFill>
                  <a:srgbClr val="0064C8"/>
                </a:solidFill>
              </a:rPr>
              <a:t>Identifiants </a:t>
            </a:r>
            <a:br>
              <a:rPr lang="fr-FR" i="1">
                <a:solidFill>
                  <a:srgbClr val="0064C8"/>
                </a:solidFill>
              </a:rPr>
            </a:br>
            <a:r>
              <a:rPr lang="fr-FR" i="1">
                <a:solidFill>
                  <a:srgbClr val="0064C8"/>
                </a:solidFill>
              </a:rPr>
              <a:t>Tableau</a:t>
            </a:r>
          </a:p>
        </p:txBody>
      </p:sp>
      <p:sp>
        <p:nvSpPr>
          <p:cNvPr id="22" name="ZoneTexte 15">
            <a:extLst>
              <a:ext uri="{FF2B5EF4-FFF2-40B4-BE49-F238E27FC236}">
                <a16:creationId xmlns:a16="http://schemas.microsoft.com/office/drawing/2014/main" id="{83A9937F-C702-32C3-29BD-CB6D2490CF7A}"/>
              </a:ext>
            </a:extLst>
          </p:cNvPr>
          <p:cNvSpPr txBox="1"/>
          <p:nvPr/>
        </p:nvSpPr>
        <p:spPr>
          <a:xfrm rot="1380000">
            <a:off x="9721585" y="3393245"/>
            <a:ext cx="1259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>
                <a:solidFill>
                  <a:srgbClr val="0064C8"/>
                </a:solidFill>
              </a:rPr>
              <a:t>Identifiants SQL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84C9B21-CF31-0979-DBB6-469FB7DE9240}"/>
              </a:ext>
            </a:extLst>
          </p:cNvPr>
          <p:cNvSpPr txBox="1">
            <a:spLocks/>
          </p:cNvSpPr>
          <p:nvPr/>
        </p:nvSpPr>
        <p:spPr>
          <a:xfrm>
            <a:off x="531629" y="2895678"/>
            <a:ext cx="4358734" cy="3485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fr-FR">
                <a:solidFill>
                  <a:schemeClr val="accent2"/>
                </a:solidFill>
              </a:rPr>
              <a:t>En installant le driver correspondant au type de base de données, vous pourrez vous connecter directement, sans passer par un cloud Tableau.</a:t>
            </a:r>
            <a:br>
              <a:rPr lang="fr-FR">
                <a:solidFill>
                  <a:schemeClr val="accent2"/>
                </a:solidFill>
              </a:rPr>
            </a:br>
            <a:r>
              <a:rPr lang="fr-FR">
                <a:solidFill>
                  <a:schemeClr val="accent2"/>
                </a:solidFill>
              </a:rPr>
              <a:t>Cette solution est plus lourde à mettre en place, mais permet de meilleures performances. 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CCDF4D-4FE1-D2A0-C3B7-6F84D4C2FECB}"/>
              </a:ext>
            </a:extLst>
          </p:cNvPr>
          <p:cNvSpPr txBox="1">
            <a:spLocks/>
          </p:cNvSpPr>
          <p:nvPr/>
        </p:nvSpPr>
        <p:spPr>
          <a:xfrm>
            <a:off x="4646330" y="1763981"/>
            <a:ext cx="7294032" cy="109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fr-FR">
                <a:solidFill>
                  <a:schemeClr val="accent5"/>
                </a:solidFill>
              </a:rPr>
              <a:t>Par l'intermédiaire d'un cloud Tableau, s'il a lui-même accès à la base. Vous n'avez alors besoin que de votre compte Tableau Online.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CCB43335-EF95-3707-62E5-ABDA3D7AC0D8}"/>
              </a:ext>
            </a:extLst>
          </p:cNvPr>
          <p:cNvSpPr txBox="1">
            <a:spLocks/>
          </p:cNvSpPr>
          <p:nvPr/>
        </p:nvSpPr>
        <p:spPr>
          <a:xfrm>
            <a:off x="8323180" y="6025893"/>
            <a:ext cx="386882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i="1"/>
              <a:t>Pour ce cours, nous utiliserons un serveur MySQL hébergé sur AWS</a:t>
            </a:r>
          </a:p>
        </p:txBody>
      </p:sp>
    </p:spTree>
    <p:extLst>
      <p:ext uri="{BB962C8B-B14F-4D97-AF65-F5344CB8AC3E}">
        <p14:creationId xmlns:p14="http://schemas.microsoft.com/office/powerpoint/2010/main" val="380462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482"/>
          </a:xfrm>
        </p:spPr>
        <p:txBody>
          <a:bodyPr>
            <a:normAutofit fontScale="90000"/>
          </a:bodyPr>
          <a:lstStyle/>
          <a:p>
            <a:r>
              <a:rPr lang="fr-FR"/>
              <a:t>Installation du driver pour la connexion à MySQL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182704"/>
            <a:ext cx="10515600" cy="260101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fr-FR" sz="1800"/>
              <a:t>Pour </a:t>
            </a:r>
            <a:r>
              <a:rPr lang="fr-FR" sz="1800" b="1"/>
              <a:t>Windows</a:t>
            </a:r>
            <a:r>
              <a:rPr lang="fr-FR" sz="1800"/>
              <a:t> :</a:t>
            </a:r>
            <a:endParaRPr lang="fr-FR" sz="1800" b="1">
              <a:solidFill>
                <a:srgbClr val="0066FF"/>
              </a:solidFill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fr-FR" sz="1800"/>
              <a:t>Téléchargez et installer le </a:t>
            </a:r>
            <a:r>
              <a:rPr lang="fr-FR" sz="1800" b="1"/>
              <a:t>connecteur ODBC 9.5 de MySQL </a:t>
            </a:r>
            <a:r>
              <a:rPr lang="fr-FR" sz="1800"/>
              <a:t>depuis l’adresse </a:t>
            </a:r>
            <a:r>
              <a:rPr lang="fr-FR" sz="1800">
                <a:hlinkClick r:id="rId2"/>
              </a:rPr>
              <a:t>https://dev.mysql.com/downloads/connector/odbc</a:t>
            </a:r>
            <a:r>
              <a:rPr lang="fr-FR" sz="1800"/>
              <a:t> (choisissez votre système d’exploitation puis éventuellement la version 64-bit)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fr-FR" sz="1800"/>
              <a:t>l’installeur du connecteur ODBC peut vous réclamer le </a:t>
            </a:r>
            <a:r>
              <a:rPr lang="fr-FR" sz="1800" err="1"/>
              <a:t>runtime</a:t>
            </a:r>
            <a:r>
              <a:rPr lang="fr-FR" sz="1800"/>
              <a:t> </a:t>
            </a:r>
            <a:r>
              <a:rPr lang="fr-FR" sz="1800" b="1"/>
              <a:t>Visual C++ </a:t>
            </a:r>
            <a:r>
              <a:rPr lang="fr-FR" sz="1800" b="1" err="1"/>
              <a:t>Redistributable</a:t>
            </a:r>
            <a:r>
              <a:rPr lang="fr-FR" sz="1800"/>
              <a:t>. Au besoin, vous pourrez le télécharger et l’installer depuis </a:t>
            </a:r>
            <a:r>
              <a:rPr lang="fr-FR" sz="1800">
                <a:hlinkClick r:id="rId3"/>
              </a:rPr>
              <a:t>https://www.microsoft.com/en-US/download/details.aspx?id=40784</a:t>
            </a:r>
            <a:r>
              <a:rPr lang="fr-FR" sz="1800"/>
              <a:t> 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endParaRPr lang="fr-FR" sz="1800" b="1">
              <a:solidFill>
                <a:srgbClr val="0066FF"/>
              </a:solidFill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D9777E9-B8E3-9C86-23AF-45A304DCE4AD}"/>
              </a:ext>
            </a:extLst>
          </p:cNvPr>
          <p:cNvSpPr txBox="1">
            <a:spLocks/>
          </p:cNvSpPr>
          <p:nvPr/>
        </p:nvSpPr>
        <p:spPr>
          <a:xfrm>
            <a:off x="838200" y="4207734"/>
            <a:ext cx="10515600" cy="2203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fr-FR" sz="1800"/>
              <a:t>Pour </a:t>
            </a:r>
            <a:r>
              <a:rPr lang="fr-FR" sz="1800" b="1"/>
              <a:t>Mac</a:t>
            </a:r>
            <a:r>
              <a:rPr lang="fr-FR" sz="1800"/>
              <a:t> :</a:t>
            </a:r>
            <a:endParaRPr lang="fr-FR" sz="1800">
              <a:solidFill>
                <a:srgbClr val="0066FF"/>
              </a:solidFill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fr-FR" sz="1800"/>
              <a:t>Téléchargez et installez </a:t>
            </a:r>
            <a:r>
              <a:rPr lang="fr-FR" sz="1800" b="1" err="1"/>
              <a:t>iODBC</a:t>
            </a:r>
            <a:r>
              <a:rPr lang="fr-FR" sz="1800"/>
              <a:t> (si vous ne l’avez pas déjà) depuis l’adresse : </a:t>
            </a:r>
            <a:r>
              <a:rPr lang="fr-FR" sz="1800" u="sng">
                <a:hlinkClick r:id="rId4"/>
              </a:rPr>
              <a:t>http://www.iodbc.org/dataspace/doc/iodbc/wiki/iodbcWiki/Downloads</a:t>
            </a:r>
            <a:endParaRPr lang="fr-FR" sz="1800"/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fr-FR" sz="1800"/>
              <a:t>Après avoir installé </a:t>
            </a:r>
            <a:r>
              <a:rPr lang="fr-FR" sz="1800" err="1"/>
              <a:t>iODBC</a:t>
            </a:r>
            <a:r>
              <a:rPr lang="fr-FR" sz="1800"/>
              <a:t>, téléchargez et installer le </a:t>
            </a:r>
            <a:r>
              <a:rPr lang="fr-FR" sz="1800" b="1"/>
              <a:t>connecteur ODBC 9.5 de MySQL </a:t>
            </a:r>
            <a:r>
              <a:rPr lang="fr-FR" sz="1800"/>
              <a:t>depuis l’adresse </a:t>
            </a:r>
            <a:r>
              <a:rPr lang="fr-FR" sz="1800">
                <a:hlinkClick r:id="rId5"/>
              </a:rPr>
              <a:t>https://dev.mysql.com/downloads/connector/odbc/</a:t>
            </a:r>
            <a:r>
              <a:rPr lang="fr-FR" sz="1800"/>
              <a:t> (choisissez votre version du </a:t>
            </a:r>
            <a:r>
              <a:rPr lang="fr-FR" sz="1800" err="1"/>
              <a:t>MacOS</a:t>
            </a:r>
            <a:r>
              <a:rPr lang="fr-FR" sz="1800"/>
              <a:t> puis éventuellement la version 64-bit)</a:t>
            </a:r>
          </a:p>
        </p:txBody>
      </p:sp>
    </p:spTree>
    <p:extLst>
      <p:ext uri="{BB962C8B-B14F-4D97-AF65-F5344CB8AC3E}">
        <p14:creationId xmlns:p14="http://schemas.microsoft.com/office/powerpoint/2010/main" val="425825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DB045-DC8E-8BE4-BE36-539C8DEC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Identifiants pour la connexion directe à MySQL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55396AE-7A3E-5E08-39D2-E4337971E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1852" y="2429434"/>
            <a:ext cx="4208353" cy="4141975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7A665E8-C7E5-FC42-BFC5-D260877C6714}"/>
              </a:ext>
            </a:extLst>
          </p:cNvPr>
          <p:cNvSpPr txBox="1"/>
          <p:nvPr/>
        </p:nvSpPr>
        <p:spPr>
          <a:xfrm>
            <a:off x="1020240" y="1690688"/>
            <a:ext cx="9782358" cy="193899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/>
              <a:t>Serveur : </a:t>
            </a:r>
            <a:r>
              <a:rPr lang="fr-FR" sz="2400" b="1"/>
              <a:t>instance-mysql-8036.cnscfol279pa.eu-west-3.rds.amazonaws.com</a:t>
            </a:r>
          </a:p>
          <a:p>
            <a:r>
              <a:rPr lang="fr-FR" sz="2400"/>
              <a:t>Port : </a:t>
            </a:r>
            <a:r>
              <a:rPr lang="fr-FR" sz="2400" b="1"/>
              <a:t>3306</a:t>
            </a:r>
            <a:r>
              <a:rPr lang="fr-FR" sz="2400"/>
              <a:t> (standard)</a:t>
            </a:r>
          </a:p>
          <a:p>
            <a:r>
              <a:rPr lang="fr-FR" sz="2400"/>
              <a:t>Base de données : </a:t>
            </a:r>
            <a:r>
              <a:rPr lang="fr-FR" sz="2400" b="1" err="1"/>
              <a:t>dwh</a:t>
            </a:r>
            <a:endParaRPr lang="fr-FR" sz="2400" b="1"/>
          </a:p>
          <a:p>
            <a:r>
              <a:rPr lang="fr-FR" sz="2400"/>
              <a:t>Compte : </a:t>
            </a:r>
            <a:r>
              <a:rPr lang="fr-FR" sz="2400" b="1"/>
              <a:t>efrei</a:t>
            </a:r>
          </a:p>
          <a:p>
            <a:r>
              <a:rPr lang="fr-FR" sz="2400"/>
              <a:t>Mot de passe : </a:t>
            </a:r>
            <a:r>
              <a:rPr lang="fr-FR" sz="2400" b="1" err="1"/>
              <a:t>efrei</a:t>
            </a:r>
          </a:p>
        </p:txBody>
      </p:sp>
    </p:spTree>
    <p:extLst>
      <p:ext uri="{BB962C8B-B14F-4D97-AF65-F5344CB8AC3E}">
        <p14:creationId xmlns:p14="http://schemas.microsoft.com/office/powerpoint/2010/main" val="2496957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3A3C6E3106AD45845D27135E41EB4D" ma:contentTypeVersion="3" ma:contentTypeDescription="Crée un document." ma:contentTypeScope="" ma:versionID="010e78e776cfe667cf4f449c1510a297">
  <xsd:schema xmlns:xsd="http://www.w3.org/2001/XMLSchema" xmlns:xs="http://www.w3.org/2001/XMLSchema" xmlns:p="http://schemas.microsoft.com/office/2006/metadata/properties" xmlns:ns2="d6ed46ff-382c-4a23-9c04-17ef85f1e5c7" targetNamespace="http://schemas.microsoft.com/office/2006/metadata/properties" ma:root="true" ma:fieldsID="30493fbb813885edffb0de098d0762d4" ns2:_="">
    <xsd:import namespace="d6ed46ff-382c-4a23-9c04-17ef85f1e5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d46ff-382c-4a23-9c04-17ef85f1e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474CFD-F36D-4E87-BD40-F1D7E7C42B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A55D1D7-EB4D-44FA-A0B0-DE4034743261}">
  <ds:schemaRefs>
    <ds:schemaRef ds:uri="d6ed46ff-382c-4a23-9c04-17ef85f1e5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8252A2F-F5AA-4ECD-B186-8A96F2691B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Thème Office</vt:lpstr>
      <vt:lpstr>Tableau : licences et installation</vt:lpstr>
      <vt:lpstr>Connexion à une base de données</vt:lpstr>
      <vt:lpstr>Installation du driver pour la connexion à MySQL</vt:lpstr>
      <vt:lpstr>Identifiants pour la connexion directe à MySQL</vt:lpstr>
    </vt:vector>
  </TitlesOfParts>
  <Company>La Poste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Logiciels nécessaires  pour le cours  Cube OLAP &amp; Reporting</dc:title>
  <dc:creator>DINIMANT Antoine</dc:creator>
  <cp:revision>1</cp:revision>
  <cp:lastPrinted>2025-11-02T18:53:26Z</cp:lastPrinted>
  <dcterms:created xsi:type="dcterms:W3CDTF">2021-02-16T17:20:53Z</dcterms:created>
  <dcterms:modified xsi:type="dcterms:W3CDTF">2025-12-08T09:22:05Z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0x0101005B3A3C6E3106AD45845D27135E41EB4D</vt:lpwstr>
  </property>
  <property fmtid="{D5CDD505-2E9C-101B-9397-08002B2CF9AE}" pid="3" name="MSIP_Label_47e7dfc5-2bf4-4a75-8664-2dc4b3bb1d09_Enabled">
    <vt:lpwstr>true</vt:lpwstr>
  </property>
  <property fmtid="{D5CDD505-2E9C-101B-9397-08002B2CF9AE}" pid="4" name="MSIP_Label_47e7dfc5-2bf4-4a75-8664-2dc4b3bb1d09_SetDate">
    <vt:lpwstr>2025-12-03T18:15:18Z</vt:lpwstr>
  </property>
  <property fmtid="{D5CDD505-2E9C-101B-9397-08002B2CF9AE}" pid="5" name="MSIP_Label_47e7dfc5-2bf4-4a75-8664-2dc4b3bb1d09_Method">
    <vt:lpwstr>Standard</vt:lpwstr>
  </property>
  <property fmtid="{D5CDD505-2E9C-101B-9397-08002B2CF9AE}" pid="6" name="MSIP_Label_47e7dfc5-2bf4-4a75-8664-2dc4b3bb1d09_Name">
    <vt:lpwstr>defa4170-0d19-0005-0004-bc88714345d2</vt:lpwstr>
  </property>
  <property fmtid="{D5CDD505-2E9C-101B-9397-08002B2CF9AE}" pid="7" name="MSIP_Label_47e7dfc5-2bf4-4a75-8664-2dc4b3bb1d09_SiteId">
    <vt:lpwstr>413600cf-bd4e-4c7c-8a61-69e73cddf731</vt:lpwstr>
  </property>
  <property fmtid="{D5CDD505-2E9C-101B-9397-08002B2CF9AE}" pid="8" name="MSIP_Label_47e7dfc5-2bf4-4a75-8664-2dc4b3bb1d09_ActionId">
    <vt:lpwstr>a93e5838-fdc3-4fd4-a0e5-3960a75fe186</vt:lpwstr>
  </property>
  <property fmtid="{D5CDD505-2E9C-101B-9397-08002B2CF9AE}" pid="9" name="MSIP_Label_47e7dfc5-2bf4-4a75-8664-2dc4b3bb1d09_ContentBits">
    <vt:lpwstr>0</vt:lpwstr>
  </property>
  <property fmtid="{D5CDD505-2E9C-101B-9397-08002B2CF9AE}" pid="10" name="MSIP_Label_47e7dfc5-2bf4-4a75-8664-2dc4b3bb1d09_Tag">
    <vt:lpwstr>10, 3, 0, 2</vt:lpwstr>
  </property>
</Properties>
</file>